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9" r:id="rId1"/>
  </p:sldMasterIdLst>
  <p:notesMasterIdLst>
    <p:notesMasterId r:id="rId24"/>
  </p:notesMasterIdLst>
  <p:sldIdLst>
    <p:sldId id="256" r:id="rId2"/>
    <p:sldId id="428" r:id="rId3"/>
    <p:sldId id="413" r:id="rId4"/>
    <p:sldId id="418" r:id="rId5"/>
    <p:sldId id="415" r:id="rId6"/>
    <p:sldId id="417" r:id="rId7"/>
    <p:sldId id="419" r:id="rId8"/>
    <p:sldId id="421" r:id="rId9"/>
    <p:sldId id="422" r:id="rId10"/>
    <p:sldId id="427" r:id="rId11"/>
    <p:sldId id="423" r:id="rId12"/>
    <p:sldId id="425" r:id="rId13"/>
    <p:sldId id="402" r:id="rId14"/>
    <p:sldId id="406" r:id="rId15"/>
    <p:sldId id="403" r:id="rId16"/>
    <p:sldId id="401" r:id="rId17"/>
    <p:sldId id="400" r:id="rId18"/>
    <p:sldId id="399" r:id="rId19"/>
    <p:sldId id="398" r:id="rId20"/>
    <p:sldId id="409" r:id="rId21"/>
    <p:sldId id="412" r:id="rId22"/>
    <p:sldId id="42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53789C-AB99-42C9-9E76-3E82E9CD6411}" v="4949" dt="2017-04-20T13:55:08.315"/>
    <p1510:client id="{96C671DD-8FA1-4DFF-AC5B-2A57318510EE}" v="36" dt="2017-04-19T21:45:26.076"/>
    <p1510:client id="{374C2480-BF9A-49DF-BD97-2413998A6516}" v="24" dt="2017-04-20T14:05:02.4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-672" y="-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10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487733-7A73-425D-914A-22F6F337571E}" type="datetimeFigureOut">
              <a:rPr lang="en-US"/>
              <a:pPr/>
              <a:t>3/24/2021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EB9CCE-EB14-4E71-8E91-0764294035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EB9CCE-EB14-4E71-8E91-076429403584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18652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EB9CCE-EB14-4E71-8E91-07642940358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88879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EB9CCE-EB14-4E71-8E91-07642940358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888792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EB9CCE-EB14-4E71-8E91-076429403584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88879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EB9CCE-EB14-4E71-8E91-076429403584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888792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EB9CCE-EB14-4E71-8E91-076429403584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888792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EB9CCE-EB14-4E71-8E91-076429403584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888792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0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1416" tIns="45708" rIns="91416" bIns="45708"/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9331" name="Slide Number Placeholder 3"/>
          <p:cNvSpPr txBox="1">
            <a:spLocks noGrp="1"/>
          </p:cNvSpPr>
          <p:nvPr/>
        </p:nvSpPr>
        <p:spPr bwMode="auto">
          <a:xfrm>
            <a:off x="3884997" y="8685856"/>
            <a:ext cx="2971433" cy="456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 anchor="b"/>
          <a:lstStyle/>
          <a:p>
            <a:pPr algn="r"/>
            <a:fld id="{EC530FB7-1518-4CBA-AF04-6C331AF4528E}" type="slidenum">
              <a:rPr lang="en-US" sz="1200"/>
              <a:pPr algn="r"/>
              <a:t>8</a:t>
            </a:fld>
            <a:endParaRPr lang="en-US" sz="12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7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1416" tIns="45708" rIns="91416" bIns="45708"/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1379" name="Slide Number Placeholder 3"/>
          <p:cNvSpPr txBox="1">
            <a:spLocks noGrp="1"/>
          </p:cNvSpPr>
          <p:nvPr/>
        </p:nvSpPr>
        <p:spPr bwMode="auto">
          <a:xfrm>
            <a:off x="3884997" y="8685856"/>
            <a:ext cx="2971433" cy="456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 anchor="b"/>
          <a:lstStyle/>
          <a:p>
            <a:pPr algn="r"/>
            <a:fld id="{A3FBE368-CC8A-4F93-A3DE-629E8EB2C44C}" type="slidenum">
              <a:rPr lang="en-US" sz="1200"/>
              <a:pPr algn="r"/>
              <a:t>9</a:t>
            </a:fld>
            <a:endParaRPr lang="en-US" sz="12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7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1416" tIns="45708" rIns="91416" bIns="45708"/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1379" name="Slide Number Placeholder 3"/>
          <p:cNvSpPr txBox="1">
            <a:spLocks noGrp="1"/>
          </p:cNvSpPr>
          <p:nvPr/>
        </p:nvSpPr>
        <p:spPr bwMode="auto">
          <a:xfrm>
            <a:off x="3884997" y="8685856"/>
            <a:ext cx="2971433" cy="456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6" rIns="91432" bIns="45716" anchor="b"/>
          <a:lstStyle/>
          <a:p>
            <a:pPr algn="r"/>
            <a:fld id="{A3FBE368-CC8A-4F93-A3DE-629E8EB2C44C}" type="slidenum">
              <a:rPr lang="en-US" sz="1200"/>
              <a:pPr algn="r"/>
              <a:t>10</a:t>
            </a:fld>
            <a:endParaRPr lang="en-US" sz="120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342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1416" tIns="45708" rIns="91416" bIns="45708"/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3427" name="Slide Number Placeholder 3"/>
          <p:cNvSpPr txBox="1">
            <a:spLocks noGrp="1"/>
          </p:cNvSpPr>
          <p:nvPr/>
        </p:nvSpPr>
        <p:spPr bwMode="auto">
          <a:xfrm>
            <a:off x="3884997" y="8685856"/>
            <a:ext cx="2971433" cy="456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53" tIns="45277" rIns="90553" bIns="45277" anchor="b"/>
          <a:lstStyle/>
          <a:p>
            <a:pPr algn="r" defTabSz="904050"/>
            <a:fld id="{D967B180-B277-49AE-AE22-6A4F8C06C544}" type="slidenum">
              <a:rPr lang="en-US" sz="1200"/>
              <a:pPr algn="r" defTabSz="904050"/>
              <a:t>11</a:t>
            </a:fld>
            <a:endParaRPr lang="en-US" sz="1200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7522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 lIns="91416" tIns="45708" rIns="91416" bIns="45708"/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7523" name="Slide Number Placeholder 3"/>
          <p:cNvSpPr txBox="1">
            <a:spLocks noGrp="1"/>
          </p:cNvSpPr>
          <p:nvPr/>
        </p:nvSpPr>
        <p:spPr bwMode="auto">
          <a:xfrm>
            <a:off x="3884997" y="8685856"/>
            <a:ext cx="2971433" cy="456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553" tIns="45277" rIns="90553" bIns="45277" anchor="b"/>
          <a:lstStyle/>
          <a:p>
            <a:pPr algn="r" defTabSz="904050"/>
            <a:fld id="{573D9A0F-A80B-4B4A-A69D-F2FCCE724E7C}" type="slidenum">
              <a:rPr lang="en-US" sz="1200"/>
              <a:pPr algn="r" defTabSz="904050"/>
              <a:t>12</a:t>
            </a:fld>
            <a:endParaRPr lang="en-US" sz="1200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EB9CCE-EB14-4E71-8E91-076429403584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888792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EB9CCE-EB14-4E71-8E91-076429403584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888792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EB9CCE-EB14-4E71-8E91-076429403584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888792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EB9CCE-EB14-4E71-8E91-076429403584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888792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EB9CCE-EB14-4E71-8E91-076429403584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888792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EB9CCE-EB14-4E71-8E91-076429403584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888792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EB9CCE-EB14-4E71-8E91-076429403584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888792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EB9CCE-EB14-4E71-8E91-076429403584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888792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EB9CCE-EB14-4E71-8E91-076429403584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888792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EB9CCE-EB14-4E71-8E91-076429403584}" type="slidenum">
              <a:rPr lang="en-US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88879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3/24/2021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030316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3/24/2021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11545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3/24/2021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733809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3/24/2021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1202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3/24/2021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85835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3/24/2021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53064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3/24/2021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80742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46CE7D5-CF57-46EF-B807-FDD0502418D4}" type="datetimeFigureOut">
              <a:rPr lang="en-US" smtClean="0"/>
              <a:pPr/>
              <a:t>3/24/2021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74325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3/24/2021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09264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3/24/2021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69506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3/24/2021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47728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pPr/>
              <a:t>3/24/2021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994215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  <p:sldLayoutId id="2147483886" r:id="rId7"/>
    <p:sldLayoutId id="2147483887" r:id="rId8"/>
    <p:sldLayoutId id="2147483888" r:id="rId9"/>
    <p:sldLayoutId id="2147483889" r:id="rId10"/>
    <p:sldLayoutId id="214748389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png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6736" y="146109"/>
            <a:ext cx="10264626" cy="3706043"/>
          </a:xfrm>
        </p:spPr>
        <p:txBody>
          <a:bodyPr/>
          <a:lstStyle/>
          <a:p>
            <a:r>
              <a:rPr lang="en-US" dirty="0" smtClean="0"/>
              <a:t>Introduction to Machine Learning/Deep Learning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 smtClean="0"/>
              <a:t>Bozhao</a:t>
            </a:r>
            <a:r>
              <a:rPr lang="en-US" dirty="0" smtClean="0"/>
              <a:t> Tan</a:t>
            </a:r>
            <a:endParaRPr lang="en-US" dirty="0">
              <a:solidFill>
                <a:srgbClr val="344068"/>
              </a:solidFill>
              <a:latin typeface="Calibri Light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 smtClean="0">
                <a:solidFill>
                  <a:srgbClr val="404040"/>
                </a:solidFill>
                <a:latin typeface="Calibri Light"/>
              </a:rPr>
              <a:t>Data, Data in the world we are living</a:t>
            </a:r>
            <a:endParaRPr lang="en-US" dirty="0">
              <a:solidFill>
                <a:srgbClr val="404040"/>
              </a:solidFill>
              <a:latin typeface="Calibri Light"/>
            </a:endParaRPr>
          </a:p>
        </p:txBody>
      </p:sp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27604" y="1995768"/>
            <a:ext cx="9166972" cy="4369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36954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 smtClean="0">
                <a:solidFill>
                  <a:srgbClr val="404040"/>
                </a:solidFill>
                <a:latin typeface="Calibri Light"/>
              </a:rPr>
              <a:t>Why we </a:t>
            </a:r>
            <a:r>
              <a:rPr lang="en-US" dirty="0" smtClean="0">
                <a:solidFill>
                  <a:srgbClr val="404040"/>
                </a:solidFill>
                <a:latin typeface="Calibri Light"/>
              </a:rPr>
              <a:t>Need </a:t>
            </a:r>
            <a:r>
              <a:rPr lang="en-US" dirty="0" smtClean="0">
                <a:solidFill>
                  <a:srgbClr val="404040"/>
                </a:solidFill>
                <a:latin typeface="Calibri Light"/>
              </a:rPr>
              <a:t>Machine Learning</a:t>
            </a:r>
            <a:endParaRPr lang="en-US" dirty="0">
              <a:solidFill>
                <a:srgbClr val="404040"/>
              </a:solidFill>
              <a:latin typeface="Calibri Ligh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8" y="1845733"/>
            <a:ext cx="11094721" cy="4438953"/>
          </a:xfrm>
        </p:spPr>
        <p:txBody>
          <a:bodyPr vert="horz" lIns="0" tIns="45720" rIns="0" bIns="45720" rtlCol="0" anchor="t">
            <a:norm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800" dirty="0" smtClean="0">
                <a:solidFill>
                  <a:srgbClr val="000000"/>
                </a:solidFill>
                <a:latin typeface="Calibri"/>
              </a:rPr>
              <a:t>A computer program is said to ‘lear</a:t>
            </a:r>
            <a:r>
              <a:rPr lang="en-US" sz="2800" dirty="0" smtClean="0">
                <a:solidFill>
                  <a:srgbClr val="000000"/>
                </a:solidFill>
                <a:latin typeface="Calibri"/>
              </a:rPr>
              <a:t>n’ from experience </a:t>
            </a:r>
            <a:r>
              <a:rPr lang="en-US" sz="2800" dirty="0" smtClean="0">
                <a:solidFill>
                  <a:srgbClr val="7030A0"/>
                </a:solidFill>
                <a:latin typeface="Calibri"/>
              </a:rPr>
              <a:t>E</a:t>
            </a:r>
            <a:r>
              <a:rPr lang="en-US" sz="2800" dirty="0" smtClean="0">
                <a:solidFill>
                  <a:srgbClr val="00B050"/>
                </a:solidFill>
                <a:latin typeface="Calibri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Calibri"/>
              </a:rPr>
              <a:t>with respect to some tasks </a:t>
            </a:r>
            <a:r>
              <a:rPr lang="en-US" sz="2800" dirty="0" smtClean="0">
                <a:solidFill>
                  <a:srgbClr val="C00000"/>
                </a:solidFill>
                <a:latin typeface="Calibri"/>
              </a:rPr>
              <a:t>T</a:t>
            </a:r>
            <a:r>
              <a:rPr lang="en-US" sz="2800" dirty="0" smtClean="0">
                <a:solidFill>
                  <a:srgbClr val="000000"/>
                </a:solidFill>
                <a:latin typeface="Calibri"/>
              </a:rPr>
              <a:t> and performance measure </a:t>
            </a:r>
            <a:r>
              <a:rPr lang="en-US" sz="2800" dirty="0" smtClean="0">
                <a:solidFill>
                  <a:srgbClr val="00B050"/>
                </a:solidFill>
                <a:latin typeface="Calibri"/>
              </a:rPr>
              <a:t>P</a:t>
            </a:r>
            <a:r>
              <a:rPr lang="en-US" sz="2800" dirty="0" smtClean="0">
                <a:solidFill>
                  <a:srgbClr val="000000"/>
                </a:solidFill>
                <a:latin typeface="Calibri"/>
              </a:rPr>
              <a:t>, if its performance at tasks in </a:t>
            </a:r>
            <a:r>
              <a:rPr lang="en-US" sz="2800" dirty="0" smtClean="0">
                <a:solidFill>
                  <a:srgbClr val="C00000"/>
                </a:solidFill>
                <a:latin typeface="Calibri"/>
              </a:rPr>
              <a:t>T</a:t>
            </a:r>
            <a:r>
              <a:rPr lang="en-US" sz="2800" dirty="0" smtClean="0">
                <a:solidFill>
                  <a:srgbClr val="000000"/>
                </a:solidFill>
                <a:latin typeface="Calibri"/>
              </a:rPr>
              <a:t>, as measured by performance </a:t>
            </a:r>
            <a:r>
              <a:rPr lang="en-US" sz="2800" dirty="0" smtClean="0">
                <a:solidFill>
                  <a:srgbClr val="00B050"/>
                </a:solidFill>
                <a:latin typeface="Calibri"/>
              </a:rPr>
              <a:t>P</a:t>
            </a:r>
            <a:r>
              <a:rPr lang="en-US" sz="2800" dirty="0" smtClean="0">
                <a:solidFill>
                  <a:srgbClr val="000000"/>
                </a:solidFill>
                <a:latin typeface="Calibri"/>
              </a:rPr>
              <a:t>, improves with experience </a:t>
            </a:r>
            <a:r>
              <a:rPr lang="en-US" sz="2800" dirty="0" smtClean="0">
                <a:solidFill>
                  <a:srgbClr val="7030A0"/>
                </a:solidFill>
                <a:latin typeface="Calibri"/>
              </a:rPr>
              <a:t>E</a:t>
            </a:r>
            <a:r>
              <a:rPr lang="en-US" sz="2800" dirty="0" smtClean="0">
                <a:solidFill>
                  <a:srgbClr val="000000"/>
                </a:solidFill>
                <a:latin typeface="Calibri"/>
              </a:rPr>
              <a:t>.</a:t>
            </a:r>
            <a:endParaRPr lang="en-US" sz="2000" dirty="0" smtClean="0">
              <a:solidFill>
                <a:schemeClr val="tx1"/>
              </a:solidFill>
              <a:latin typeface="Calibri"/>
            </a:endParaRP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solidFill>
                  <a:schemeClr val="tx1"/>
                </a:solidFill>
                <a:latin typeface="Calibri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Calibri"/>
              </a:rPr>
              <a:t> Handcrafted rules will result in a large number of rules and exceptions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solidFill>
                  <a:schemeClr val="tx1"/>
                </a:solidFill>
                <a:latin typeface="Calibri"/>
              </a:rPr>
              <a:t>  We need ML in cases where we cannot directly to write a program to handle every case, so it is better to have a machine that learns from the Training set or past Experience.</a:t>
            </a:r>
            <a:endParaRPr lang="en-US" sz="2800" dirty="0" smtClean="0">
              <a:solidFill>
                <a:schemeClr val="tx1"/>
              </a:solidFill>
              <a:latin typeface="Calibri"/>
            </a:endParaRPr>
          </a:p>
          <a:p>
            <a:pPr lvl="1"/>
            <a:r>
              <a:rPr lang="en-US" sz="2000" dirty="0" smtClean="0">
                <a:solidFill>
                  <a:srgbClr val="C00000"/>
                </a:solidFill>
                <a:latin typeface="Calibri"/>
              </a:rPr>
              <a:t>Task (T) </a:t>
            </a:r>
            <a:r>
              <a:rPr lang="en-US" sz="2000" dirty="0" smtClean="0">
                <a:solidFill>
                  <a:schemeClr val="tx1"/>
                </a:solidFill>
                <a:latin typeface="Calibri"/>
              </a:rPr>
              <a:t>: recognizing sensitive human data </a:t>
            </a:r>
            <a:endParaRPr lang="en-US" sz="2000" dirty="0" smtClean="0">
              <a:solidFill>
                <a:schemeClr val="tx1"/>
              </a:solidFill>
              <a:latin typeface="Calibri"/>
            </a:endParaRPr>
          </a:p>
          <a:p>
            <a:pPr lvl="1"/>
            <a:r>
              <a:rPr lang="en-US" sz="2000" dirty="0" smtClean="0">
                <a:solidFill>
                  <a:srgbClr val="00B050"/>
                </a:solidFill>
                <a:latin typeface="Calibri"/>
              </a:rPr>
              <a:t>Performance P:  </a:t>
            </a:r>
            <a:r>
              <a:rPr lang="en-US" sz="2000" dirty="0" smtClean="0">
                <a:solidFill>
                  <a:schemeClr val="tx1"/>
                </a:solidFill>
                <a:latin typeface="Calibri"/>
              </a:rPr>
              <a:t>percent of dataset correctly classified</a:t>
            </a:r>
            <a:endParaRPr lang="en-US" sz="2000" dirty="0" smtClean="0">
              <a:solidFill>
                <a:schemeClr val="tx1"/>
              </a:solidFill>
              <a:latin typeface="Calibri"/>
            </a:endParaRPr>
          </a:p>
          <a:p>
            <a:pPr lvl="1"/>
            <a:r>
              <a:rPr lang="en-US" sz="2000" dirty="0" smtClean="0">
                <a:solidFill>
                  <a:srgbClr val="7030A0"/>
                </a:solidFill>
                <a:latin typeface="Calibri"/>
              </a:rPr>
              <a:t>Training Experience E</a:t>
            </a:r>
            <a:r>
              <a:rPr lang="en-US" sz="2000" dirty="0" smtClean="0">
                <a:solidFill>
                  <a:schemeClr val="tx1"/>
                </a:solidFill>
                <a:latin typeface="Calibri"/>
              </a:rPr>
              <a:t>: a dataset of sensitive column names we already know</a:t>
            </a:r>
            <a:endParaRPr lang="en-US" sz="2000" dirty="0" smtClean="0">
              <a:solidFill>
                <a:schemeClr val="tx1"/>
              </a:solidFill>
              <a:latin typeface="Calibri"/>
            </a:endParaRPr>
          </a:p>
          <a:p>
            <a:pPr marL="0" indent="0">
              <a:buNone/>
            </a:pPr>
            <a:endParaRPr lang="en-US" dirty="0">
              <a:solidFill>
                <a:srgbClr val="404040"/>
              </a:solidFill>
              <a:latin typeface="Calibri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6954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 smtClean="0">
                <a:solidFill>
                  <a:srgbClr val="404040"/>
                </a:solidFill>
                <a:latin typeface="Calibri Light"/>
              </a:rPr>
              <a:t>What is Machine Learning</a:t>
            </a:r>
            <a:endParaRPr lang="en-US" dirty="0">
              <a:solidFill>
                <a:srgbClr val="404040"/>
              </a:solidFill>
              <a:latin typeface="Calibri Light"/>
            </a:endParaRPr>
          </a:p>
        </p:txBody>
      </p:sp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13543" y="1834979"/>
            <a:ext cx="8344460" cy="4544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36954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 smtClean="0">
                <a:solidFill>
                  <a:srgbClr val="404040"/>
                </a:solidFill>
                <a:latin typeface="Calibri Light"/>
              </a:rPr>
              <a:t>ML Applications</a:t>
            </a:r>
            <a:endParaRPr lang="en-US" dirty="0">
              <a:solidFill>
                <a:srgbClr val="404040"/>
              </a:solidFill>
              <a:latin typeface="Calibri Ligh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8" y="1845733"/>
            <a:ext cx="11094721" cy="4424438"/>
          </a:xfrm>
        </p:spPr>
        <p:txBody>
          <a:bodyPr vert="horz" lIns="0" tIns="45720" rIns="0" bIns="45720" rtlCol="0" anchor="t">
            <a:normAutofit fontScale="92500" lnSpcReduction="10000"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800" dirty="0" smtClean="0">
                <a:solidFill>
                  <a:srgbClr val="000000"/>
                </a:solidFill>
                <a:latin typeface="Calibri"/>
              </a:rPr>
              <a:t>Image Classification, Object Detection,  Self-Driven Car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sz="2800" dirty="0" smtClean="0">
                <a:solidFill>
                  <a:srgbClr val="000000"/>
                </a:solidFill>
                <a:latin typeface="Calibri"/>
              </a:rPr>
              <a:t>Speech Recognition, Speaker Recognition, Deep Fake Generation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sz="2800" dirty="0" smtClean="0">
                <a:solidFill>
                  <a:srgbClr val="000000"/>
                </a:solidFill>
                <a:latin typeface="Calibri"/>
              </a:rPr>
              <a:t>Natural Language Processing (</a:t>
            </a:r>
            <a:r>
              <a:rPr lang="en-US" sz="2800" dirty="0" err="1" smtClean="0">
                <a:solidFill>
                  <a:srgbClr val="000000"/>
                </a:solidFill>
                <a:latin typeface="Calibri"/>
              </a:rPr>
              <a:t>Chatbot</a:t>
            </a:r>
            <a:r>
              <a:rPr lang="en-US" sz="2800" dirty="0" smtClean="0">
                <a:solidFill>
                  <a:srgbClr val="000000"/>
                </a:solidFill>
                <a:latin typeface="Calibri"/>
              </a:rPr>
              <a:t>, Search, Topic detection, etc)</a:t>
            </a:r>
            <a:endParaRPr lang="en-US" sz="2000" dirty="0" smtClean="0">
              <a:solidFill>
                <a:schemeClr val="tx1"/>
              </a:solidFill>
              <a:latin typeface="Calibri"/>
            </a:endParaRP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solidFill>
                  <a:schemeClr val="tx1"/>
                </a:solidFill>
                <a:latin typeface="Calibri"/>
              </a:rPr>
              <a:t>  </a:t>
            </a:r>
            <a:r>
              <a:rPr lang="en-US" sz="2800" dirty="0" smtClean="0">
                <a:solidFill>
                  <a:schemeClr val="tx1"/>
                </a:solidFill>
                <a:latin typeface="Calibri"/>
              </a:rPr>
              <a:t>Fraud/Spam Detection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solidFill>
                  <a:schemeClr val="tx1"/>
                </a:solidFill>
                <a:latin typeface="Calibri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Calibri"/>
              </a:rPr>
              <a:t> Gaming industry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solidFill>
                  <a:schemeClr val="tx1"/>
                </a:solidFill>
                <a:latin typeface="Calibri"/>
              </a:rPr>
              <a:t>  Advertising, Marketing,  Finance,  Business Decision</a:t>
            </a:r>
          </a:p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Font typeface="Wingdings" pitchFamily="2" charset="2"/>
              <a:buChar char="q"/>
            </a:pPr>
            <a:r>
              <a:rPr lang="en-US" sz="2800" dirty="0" smtClean="0">
                <a:solidFill>
                  <a:schemeClr val="tx1"/>
                </a:solidFill>
                <a:latin typeface="Calibri"/>
              </a:rPr>
              <a:t>  Medical  – predict patient’s illness, diagnose, operation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solidFill>
                  <a:schemeClr val="tx1"/>
                </a:solidFill>
                <a:latin typeface="Calibri"/>
              </a:rPr>
              <a:t>  Robots, Industry 4.0, etc.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solidFill>
                  <a:schemeClr val="tx1"/>
                </a:solidFill>
                <a:latin typeface="Calibri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Calibri"/>
              </a:rPr>
              <a:t> …</a:t>
            </a:r>
            <a:endParaRPr lang="en-US" sz="2000" dirty="0" smtClean="0">
              <a:solidFill>
                <a:schemeClr val="tx1"/>
              </a:solidFill>
              <a:latin typeface="Calibri"/>
            </a:endParaRPr>
          </a:p>
          <a:p>
            <a:pPr marL="0" indent="0">
              <a:buNone/>
            </a:pPr>
            <a:endParaRPr lang="en-US" dirty="0">
              <a:solidFill>
                <a:srgbClr val="404040"/>
              </a:solidFill>
              <a:latin typeface="Calibri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6954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 smtClean="0">
                <a:solidFill>
                  <a:srgbClr val="404040"/>
                </a:solidFill>
                <a:latin typeface="Calibri Light"/>
              </a:rPr>
              <a:t>ML Algorithms</a:t>
            </a:r>
            <a:endParaRPr lang="en-US" dirty="0">
              <a:solidFill>
                <a:srgbClr val="404040"/>
              </a:solidFill>
              <a:latin typeface="Calibri Ligh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8" y="1845733"/>
            <a:ext cx="11094721" cy="4424438"/>
          </a:xfrm>
        </p:spPr>
        <p:txBody>
          <a:bodyPr vert="horz" lIns="0" tIns="45720" rIns="0" bIns="45720" rtlCol="0" anchor="t">
            <a:norm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800" dirty="0" smtClean="0">
                <a:solidFill>
                  <a:srgbClr val="000000"/>
                </a:solidFill>
                <a:latin typeface="Calibri"/>
              </a:rPr>
              <a:t>Supervised Learning</a:t>
            </a:r>
          </a:p>
          <a:p>
            <a:pPr marL="749808" lvl="1" indent="-457200">
              <a:buFont typeface="Wingdings" pitchFamily="2" charset="2"/>
              <a:buChar char="q"/>
            </a:pPr>
            <a:r>
              <a:rPr lang="en-US" sz="2600" dirty="0" smtClean="0">
                <a:solidFill>
                  <a:srgbClr val="000000"/>
                </a:solidFill>
                <a:latin typeface="Calibri"/>
              </a:rPr>
              <a:t>Classification</a:t>
            </a:r>
          </a:p>
          <a:p>
            <a:pPr marL="749808" lvl="1" indent="-457200">
              <a:buFont typeface="Wingdings" pitchFamily="2" charset="2"/>
              <a:buChar char="q"/>
            </a:pPr>
            <a:r>
              <a:rPr lang="en-US" sz="2600" dirty="0" smtClean="0">
                <a:solidFill>
                  <a:srgbClr val="000000"/>
                </a:solidFill>
                <a:latin typeface="Calibri"/>
              </a:rPr>
              <a:t>Regression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sz="2800" dirty="0" smtClean="0">
                <a:solidFill>
                  <a:srgbClr val="000000"/>
                </a:solidFill>
                <a:latin typeface="Calibri"/>
              </a:rPr>
              <a:t>Unsupervised Learning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sz="2800" dirty="0" smtClean="0">
                <a:solidFill>
                  <a:srgbClr val="000000"/>
                </a:solidFill>
                <a:latin typeface="Calibri"/>
              </a:rPr>
              <a:t>Others: Reinforcement Learning, Recommendation System</a:t>
            </a:r>
            <a:endParaRPr lang="en-US" sz="2000" dirty="0" smtClean="0">
              <a:solidFill>
                <a:schemeClr val="tx1"/>
              </a:solidFill>
              <a:latin typeface="Calibri"/>
            </a:endParaRPr>
          </a:p>
          <a:p>
            <a:pPr marL="0" indent="0">
              <a:buNone/>
            </a:pPr>
            <a:endParaRPr lang="en-US" dirty="0">
              <a:solidFill>
                <a:srgbClr val="404040"/>
              </a:solidFill>
              <a:latin typeface="Calibri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69581" y="1582511"/>
            <a:ext cx="2871333" cy="2261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491842" y="1342002"/>
            <a:ext cx="2772788" cy="2483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603787" y="4289296"/>
            <a:ext cx="3009089" cy="1903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844305" y="4321152"/>
            <a:ext cx="3447543" cy="17800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36954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 smtClean="0">
                <a:solidFill>
                  <a:srgbClr val="404040"/>
                </a:solidFill>
                <a:latin typeface="Calibri Light"/>
              </a:rPr>
              <a:t>Performance Evaluation Metrics</a:t>
            </a:r>
            <a:endParaRPr lang="en-US" dirty="0">
              <a:solidFill>
                <a:srgbClr val="404040"/>
              </a:solidFill>
              <a:latin typeface="Calibri Light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271081" y="1806102"/>
            <a:ext cx="4176713" cy="555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en-US" altLang="zh-CN" sz="2400" dirty="0" smtClean="0">
                <a:latin typeface="Calibri" pitchFamily="34" charset="0"/>
                <a:ea typeface="SimSun" pitchFamily="2" charset="-122"/>
              </a:rPr>
              <a:t>Target &amp; Non-Target</a:t>
            </a:r>
            <a:endParaRPr lang="en-US" altLang="zh-CN" sz="2400" dirty="0">
              <a:latin typeface="Calibri" pitchFamily="34" charset="0"/>
              <a:ea typeface="SimSun" pitchFamily="2" charset="-122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en-US" altLang="zh-CN" sz="2400" dirty="0">
                <a:latin typeface="Calibri" pitchFamily="34" charset="0"/>
                <a:ea typeface="SimSun" pitchFamily="2" charset="-122"/>
              </a:rPr>
              <a:t>False rejection rate (FRR)</a:t>
            </a:r>
          </a:p>
          <a:p>
            <a:pPr marL="742950" lvl="1" indent="-28575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</a:pPr>
            <a:r>
              <a:rPr lang="en-US" altLang="zh-CN" sz="2000" dirty="0">
                <a:latin typeface="Calibri" pitchFamily="34" charset="0"/>
                <a:ea typeface="SimSun" pitchFamily="2" charset="-122"/>
              </a:rPr>
              <a:t>Frequency that a system will inaccurately reject an genuine command</a:t>
            </a:r>
          </a:p>
          <a:p>
            <a:pPr marL="742950" lvl="1" indent="-28575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</a:pPr>
            <a:r>
              <a:rPr lang="en-US" altLang="zh-CN" sz="2000" dirty="0">
                <a:latin typeface="Calibri" pitchFamily="34" charset="0"/>
                <a:ea typeface="SimSun" pitchFamily="2" charset="-122"/>
              </a:rPr>
              <a:t>Convenience measure (1-FRR)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en-US" altLang="zh-CN" sz="2400" dirty="0">
                <a:latin typeface="Calibri" pitchFamily="34" charset="0"/>
                <a:ea typeface="SimSun" pitchFamily="2" charset="-122"/>
              </a:rPr>
              <a:t>False acceptance rate (FAR)</a:t>
            </a:r>
          </a:p>
          <a:p>
            <a:pPr marL="742950" lvl="1" indent="-28575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</a:pPr>
            <a:r>
              <a:rPr lang="en-US" altLang="zh-CN" sz="2000" dirty="0">
                <a:latin typeface="Calibri" pitchFamily="34" charset="0"/>
                <a:ea typeface="SimSun" pitchFamily="2" charset="-122"/>
              </a:rPr>
              <a:t>Frequency that a system will inaccurately accept an imposter</a:t>
            </a:r>
          </a:p>
          <a:p>
            <a:pPr marL="742950" lvl="1" indent="-28575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</a:pPr>
            <a:r>
              <a:rPr lang="en-US" altLang="zh-CN" sz="2000" dirty="0">
                <a:latin typeface="Calibri" pitchFamily="34" charset="0"/>
                <a:ea typeface="SimSun" pitchFamily="2" charset="-122"/>
              </a:rPr>
              <a:t>Security measure (1-FAR)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en-US" altLang="zh-CN" sz="2400" dirty="0">
                <a:latin typeface="Calibri" pitchFamily="34" charset="0"/>
                <a:ea typeface="SimSun" pitchFamily="2" charset="-122"/>
              </a:rPr>
              <a:t>Equal error rate (EER)</a:t>
            </a:r>
          </a:p>
          <a:p>
            <a:pPr marL="742950" lvl="1" indent="-28575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Char char="–"/>
            </a:pPr>
            <a:r>
              <a:rPr lang="en-US" altLang="zh-CN" sz="2000" dirty="0">
                <a:latin typeface="Calibri" pitchFamily="34" charset="0"/>
                <a:ea typeface="SimSun" pitchFamily="2" charset="-122"/>
              </a:rPr>
              <a:t>The rate at which FAR and FRR are equal</a:t>
            </a:r>
            <a:endParaRPr lang="en-US" altLang="zh-CN" sz="2000" i="1" dirty="0">
              <a:latin typeface="Calibri" pitchFamily="34" charset="0"/>
              <a:ea typeface="SimSun" pitchFamily="2" charset="-122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altLang="zh-CN" sz="2400" dirty="0">
              <a:latin typeface="Calibri" pitchFamily="34" charset="0"/>
              <a:ea typeface="SimSun" pitchFamily="2" charset="-122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US" altLang="zh-CN" sz="2400" dirty="0">
                <a:latin typeface="Calibri" pitchFamily="34" charset="0"/>
                <a:ea typeface="SimSun" pitchFamily="2" charset="-122"/>
              </a:rPr>
              <a:t>      </a:t>
            </a:r>
            <a:endParaRPr lang="en-US" altLang="zh-CN" sz="2800" i="1" dirty="0">
              <a:latin typeface="Calibri" pitchFamily="34" charset="0"/>
              <a:ea typeface="SimSun" pitchFamily="2" charset="-122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Char char="•"/>
            </a:pPr>
            <a:endParaRPr lang="en-US" altLang="zh-CN" sz="2400" dirty="0">
              <a:latin typeface="Calibri" pitchFamily="34" charset="0"/>
              <a:ea typeface="SimSun" pitchFamily="2" charset="-122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altLang="zh-CN" sz="2400" dirty="0">
              <a:latin typeface="Calibri" pitchFamily="34" charset="0"/>
              <a:ea typeface="SimSun" pitchFamily="2" charset="-122"/>
            </a:endParaRP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endParaRPr lang="en-US" altLang="zh-CN" sz="3200" dirty="0">
              <a:latin typeface="Calibri" pitchFamily="34" charset="0"/>
              <a:ea typeface="SimSun" pitchFamily="2" charset="-122"/>
            </a:endParaRPr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7175770" y="1825558"/>
          <a:ext cx="3378200" cy="2006600"/>
        </p:xfrm>
        <a:graphic>
          <a:graphicData uri="http://schemas.openxmlformats.org/presentationml/2006/ole">
            <p:oleObj spid="_x0000_s2050" name="Bitmap Image" r:id="rId4" imgW="10180952" imgH="6609524" progId="PBrush">
              <p:embed/>
            </p:oleObj>
          </a:graphicData>
        </a:graphic>
      </p:graphicFrame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279027" y="3833976"/>
            <a:ext cx="3333850" cy="2396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36954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Decision Trees</a:t>
            </a:r>
          </a:p>
        </p:txBody>
      </p:sp>
      <p:sp>
        <p:nvSpPr>
          <p:cNvPr id="9830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68238" y="1865449"/>
            <a:ext cx="11290300" cy="4692650"/>
          </a:xfrm>
        </p:spPr>
        <p:txBody>
          <a:bodyPr/>
          <a:lstStyle/>
          <a:p>
            <a:r>
              <a:rPr lang="en-US" sz="2400" dirty="0" smtClean="0"/>
              <a:t>A sequence of Yes/No rules (Nodes and Leaves)</a:t>
            </a:r>
          </a:p>
          <a:p>
            <a:r>
              <a:rPr lang="en-US" sz="2400" dirty="0" smtClean="0"/>
              <a:t>Learning methods: C4.5 (J48), Random Forest, Bagging, Alternative):</a:t>
            </a:r>
          </a:p>
          <a:p>
            <a:pPr>
              <a:buFontTx/>
              <a:buNone/>
            </a:pPr>
            <a:endParaRPr lang="en-US" sz="2400" dirty="0" smtClean="0"/>
          </a:p>
          <a:p>
            <a:pPr>
              <a:buFontTx/>
              <a:buNone/>
            </a:pPr>
            <a:endParaRPr lang="en-US" sz="2400" dirty="0" smtClean="0"/>
          </a:p>
          <a:p>
            <a:pPr>
              <a:buFontTx/>
              <a:buNone/>
            </a:pPr>
            <a:endParaRPr lang="en-US" sz="2400" dirty="0" smtClean="0"/>
          </a:p>
          <a:p>
            <a:pPr>
              <a:buFontTx/>
              <a:buNone/>
            </a:pPr>
            <a:endParaRPr lang="en-US" sz="2400" dirty="0" smtClean="0"/>
          </a:p>
          <a:p>
            <a:pPr>
              <a:buFontTx/>
              <a:buNone/>
            </a:pPr>
            <a:endParaRPr lang="en-US" sz="2400" dirty="0" smtClean="0"/>
          </a:p>
          <a:p>
            <a:pPr>
              <a:buFontTx/>
              <a:buNone/>
            </a:pPr>
            <a:endParaRPr lang="en-US" sz="2400" dirty="0" smtClean="0"/>
          </a:p>
          <a:p>
            <a:pPr>
              <a:buFontTx/>
              <a:buNone/>
            </a:pPr>
            <a:endParaRPr lang="en-US" sz="2400" dirty="0" smtClean="0"/>
          </a:p>
        </p:txBody>
      </p:sp>
      <p:pic>
        <p:nvPicPr>
          <p:cNvPr id="98307" name="Picture 4" descr="induced-restaurant-tre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50522" y="2864593"/>
            <a:ext cx="5607095" cy="3377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dirty="0" smtClean="0"/>
              <a:t>Hidden Markov Models</a:t>
            </a:r>
          </a:p>
        </p:txBody>
      </p:sp>
      <p:pic>
        <p:nvPicPr>
          <p:cNvPr id="100354" name="Picture 2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0" y="2109889"/>
            <a:ext cx="6096000" cy="308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0355" name="Rectangle 18"/>
          <p:cNvSpPr>
            <a:spLocks noChangeArrowheads="1"/>
          </p:cNvSpPr>
          <p:nvPr/>
        </p:nvSpPr>
        <p:spPr bwMode="auto">
          <a:xfrm>
            <a:off x="291786" y="1822923"/>
            <a:ext cx="5971116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Calibri" pitchFamily="34" charset="0"/>
                <a:sym typeface="Arial" charset="0"/>
              </a:rPr>
              <a:t>A Hidden Markov Model (HMM) allows the modeling of uncertain events as a stochastic process, especially for temporal pattern recognition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Calibri" pitchFamily="34" charset="0"/>
                <a:sym typeface="Arial" charset="0"/>
              </a:rPr>
              <a:t>HMMs are used for training the </a:t>
            </a:r>
            <a:r>
              <a:rPr lang="en-US" sz="2400" dirty="0" smtClean="0">
                <a:latin typeface="Calibri" pitchFamily="34" charset="0"/>
                <a:sym typeface="Arial" charset="0"/>
              </a:rPr>
              <a:t>Speech Recognition</a:t>
            </a:r>
            <a:r>
              <a:rPr lang="en-US" sz="2400" dirty="0" smtClean="0">
                <a:latin typeface="Calibri" pitchFamily="34" charset="0"/>
                <a:sym typeface="Arial" charset="0"/>
              </a:rPr>
              <a:t> models, for example</a:t>
            </a:r>
            <a:endParaRPr lang="en-US" sz="2400" dirty="0">
              <a:latin typeface="Calibri" pitchFamily="34" charset="0"/>
              <a:sym typeface="Arial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altLang="zh-CN" sz="2400" dirty="0">
                <a:latin typeface="Calibri" pitchFamily="34" charset="0"/>
                <a:ea typeface="SimSun" pitchFamily="2" charset="-122"/>
                <a:sym typeface="Arial" charset="0"/>
              </a:rPr>
              <a:t>States, possible observations, state transition prob., output prob. 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dirty="0" smtClean="0"/>
              <a:t>Gaussian Mixture Models</a:t>
            </a:r>
            <a:endParaRPr lang="en-US" dirty="0" smtClean="0"/>
          </a:p>
        </p:txBody>
      </p:sp>
      <p:sp>
        <p:nvSpPr>
          <p:cNvPr id="5" name="Rectangle 16"/>
          <p:cNvSpPr>
            <a:spLocks noChangeArrowheads="1"/>
          </p:cNvSpPr>
          <p:nvPr/>
        </p:nvSpPr>
        <p:spPr bwMode="auto">
          <a:xfrm>
            <a:off x="715056" y="1843542"/>
            <a:ext cx="4175125" cy="1081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20000"/>
              </a:spcBef>
              <a:buFontTx/>
              <a:buChar char="•"/>
            </a:pPr>
            <a:r>
              <a:rPr lang="en-US" altLang="zh-CN" dirty="0">
                <a:ea typeface="SimSun" pitchFamily="2" charset="-122"/>
              </a:rPr>
              <a:t>Statistical GMM modeling variations of features</a:t>
            </a:r>
          </a:p>
          <a:p>
            <a:pPr marL="342900" indent="-342900" algn="l">
              <a:spcBef>
                <a:spcPct val="20000"/>
              </a:spcBef>
              <a:buFontTx/>
              <a:buChar char="•"/>
            </a:pPr>
            <a:r>
              <a:rPr lang="en-US" altLang="zh-CN" dirty="0">
                <a:ea typeface="SimSun" pitchFamily="2" charset="-122"/>
              </a:rPr>
              <a:t>Weighted sum of component densities</a:t>
            </a:r>
          </a:p>
          <a:p>
            <a:pPr marL="342900" indent="-342900" algn="l">
              <a:spcBef>
                <a:spcPct val="20000"/>
              </a:spcBef>
            </a:pPr>
            <a:endParaRPr lang="en-US" altLang="zh-CN" dirty="0">
              <a:ea typeface="SimSun" pitchFamily="2" charset="-122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6099" y="2833234"/>
            <a:ext cx="5019902" cy="709060"/>
          </a:xfrm>
          <a:prstGeom prst="rect">
            <a:avLst/>
          </a:prstGeom>
          <a:noFill/>
        </p:spPr>
      </p:pic>
      <p:sp>
        <p:nvSpPr>
          <p:cNvPr id="7" name="Rectangle 19"/>
          <p:cNvSpPr>
            <a:spLocks noChangeArrowheads="1"/>
          </p:cNvSpPr>
          <p:nvPr/>
        </p:nvSpPr>
        <p:spPr bwMode="auto">
          <a:xfrm>
            <a:off x="816656" y="3813628"/>
            <a:ext cx="4464050" cy="2376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20000"/>
              </a:spcBef>
              <a:buFontTx/>
              <a:buChar char="•"/>
            </a:pPr>
            <a:r>
              <a:rPr lang="en-US" altLang="zh-CN" dirty="0">
                <a:ea typeface="SimSun" pitchFamily="2" charset="-122"/>
              </a:rPr>
              <a:t>Building client model</a:t>
            </a:r>
          </a:p>
          <a:p>
            <a:pPr marL="742950" lvl="1" indent="-285750" algn="l">
              <a:spcBef>
                <a:spcPct val="20000"/>
              </a:spcBef>
              <a:buFontTx/>
              <a:buChar char="–"/>
            </a:pPr>
            <a:r>
              <a:rPr lang="en-US" altLang="zh-CN" dirty="0">
                <a:ea typeface="SimSun" pitchFamily="2" charset="-122"/>
              </a:rPr>
              <a:t> </a:t>
            </a:r>
            <a:r>
              <a:rPr lang="en-US" altLang="zh-CN" sz="2000" dirty="0">
                <a:ea typeface="SimSun" pitchFamily="2" charset="-122"/>
              </a:rPr>
              <a:t>Maximum likelihood      estimation   </a:t>
            </a:r>
          </a:p>
          <a:p>
            <a:pPr marL="742950" lvl="1" indent="-285750" algn="l">
              <a:spcBef>
                <a:spcPct val="20000"/>
              </a:spcBef>
              <a:buFontTx/>
              <a:buChar char="–"/>
            </a:pPr>
            <a:r>
              <a:rPr lang="en-US" altLang="zh-CN" sz="2000" dirty="0">
                <a:ea typeface="SimSun" pitchFamily="2" charset="-122"/>
              </a:rPr>
              <a:t> Expectation maximization (EM)</a:t>
            </a:r>
          </a:p>
          <a:p>
            <a:pPr marL="742950" lvl="1" indent="-285750" algn="l">
              <a:spcBef>
                <a:spcPct val="20000"/>
              </a:spcBef>
              <a:buFontTx/>
              <a:buChar char="–"/>
            </a:pPr>
            <a:r>
              <a:rPr lang="en-US" altLang="zh-CN" sz="2000" dirty="0">
                <a:ea typeface="SimSun" pitchFamily="2" charset="-122"/>
              </a:rPr>
              <a:t> Diagonal covariance matrix</a:t>
            </a:r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759348" y="3938234"/>
            <a:ext cx="4184424" cy="2172280"/>
          </a:xfrm>
          <a:prstGeom prst="rect">
            <a:avLst/>
          </a:prstGeom>
          <a:noFill/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833054" y="1683884"/>
            <a:ext cx="4067173" cy="222847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inkTgt spid="_x0000_s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inkTgt spid="_x0000_s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inkTgt spid="_x0000_s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inkTgt spid="_x0000_s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inkTgt spid="_x0000_s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inkTgt spid="_x0000_s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Support Vector Machines</a:t>
            </a:r>
          </a:p>
        </p:txBody>
      </p:sp>
      <p:sp>
        <p:nvSpPr>
          <p:cNvPr id="10240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44501" y="1106488"/>
            <a:ext cx="11290300" cy="4692650"/>
          </a:xfrm>
        </p:spPr>
        <p:txBody>
          <a:bodyPr/>
          <a:lstStyle/>
          <a:p>
            <a:pPr defTabSz="0" eaLnBrk="1" hangingPunct="1"/>
            <a:endParaRPr lang="en-US" sz="2400" dirty="0" smtClean="0"/>
          </a:p>
          <a:p>
            <a:pPr defTabSz="0" eaLnBrk="1" hangingPunct="1"/>
            <a:endParaRPr lang="en-US" sz="2400" dirty="0" smtClean="0"/>
          </a:p>
          <a:p>
            <a:pPr defTabSz="0" eaLnBrk="1" hangingPunct="1"/>
            <a:r>
              <a:rPr lang="en-US" sz="2400" dirty="0" smtClean="0"/>
              <a:t>Constructing </a:t>
            </a:r>
            <a:r>
              <a:rPr lang="en-US" sz="2400" dirty="0" smtClean="0"/>
              <a:t>an </a:t>
            </a:r>
            <a:r>
              <a:rPr lang="en-US" sz="2400" i="1" dirty="0" smtClean="0"/>
              <a:t>N</a:t>
            </a:r>
            <a:r>
              <a:rPr lang="en-US" sz="2400" dirty="0" smtClean="0"/>
              <a:t>-dimensional </a:t>
            </a:r>
            <a:r>
              <a:rPr lang="en-US" sz="2400" dirty="0" err="1" smtClean="0"/>
              <a:t>hyperplane</a:t>
            </a:r>
            <a:r>
              <a:rPr lang="en-US" sz="2400" dirty="0" smtClean="0"/>
              <a:t> that optimally separates the data with large margin.</a:t>
            </a:r>
          </a:p>
          <a:p>
            <a:pPr defTabSz="0" eaLnBrk="1" hangingPunct="1"/>
            <a:endParaRPr lang="en-US" sz="3600" dirty="0" smtClean="0"/>
          </a:p>
          <a:p>
            <a:pPr defTabSz="0" eaLnBrk="1" hangingPunct="1">
              <a:buFontTx/>
              <a:buNone/>
            </a:pPr>
            <a:endParaRPr lang="en-US" sz="3600" dirty="0" smtClean="0"/>
          </a:p>
          <a:p>
            <a:pPr defTabSz="0" eaLnBrk="1" hangingPunct="1">
              <a:buFontTx/>
              <a:buNone/>
            </a:pPr>
            <a:endParaRPr lang="en-US" sz="3600" dirty="0" smtClean="0"/>
          </a:p>
          <a:p>
            <a:pPr defTabSz="0" eaLnBrk="1" hangingPunct="1">
              <a:buFontTx/>
              <a:buNone/>
            </a:pPr>
            <a:endParaRPr lang="en-US" sz="3600" dirty="0" smtClean="0"/>
          </a:p>
          <a:p>
            <a:pPr defTabSz="0" eaLnBrk="1" hangingPunct="1">
              <a:buFontTx/>
              <a:buNone/>
            </a:pPr>
            <a:endParaRPr lang="en-US" sz="3600" dirty="0" smtClean="0"/>
          </a:p>
          <a:p>
            <a:pPr defTabSz="0" eaLnBrk="1" hangingPunct="1">
              <a:buFontTx/>
              <a:buNone/>
            </a:pPr>
            <a:endParaRPr lang="en-US" sz="3600" dirty="0" smtClean="0"/>
          </a:p>
          <a:p>
            <a:pPr defTabSz="0" eaLnBrk="1" hangingPunct="1">
              <a:buFontTx/>
              <a:buNone/>
            </a:pPr>
            <a:endParaRPr lang="en-US" sz="3600" dirty="0" smtClean="0"/>
          </a:p>
          <a:p>
            <a:pPr defTabSz="0" eaLnBrk="1" hangingPunct="1">
              <a:buFontTx/>
              <a:buNone/>
            </a:pPr>
            <a:endParaRPr lang="en-US" sz="3600" dirty="0" smtClean="0"/>
          </a:p>
        </p:txBody>
      </p:sp>
      <p:pic>
        <p:nvPicPr>
          <p:cNvPr id="10240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1618" y="3139040"/>
            <a:ext cx="7654136" cy="2745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77693" y="505838"/>
            <a:ext cx="109728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Artificial </a:t>
            </a:r>
            <a:r>
              <a:rPr lang="en-US" dirty="0" smtClean="0"/>
              <a:t>Neural Network</a:t>
            </a:r>
          </a:p>
        </p:txBody>
      </p:sp>
      <p:sp>
        <p:nvSpPr>
          <p:cNvPr id="10649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2684" y="847725"/>
            <a:ext cx="11641667" cy="4692650"/>
          </a:xfrm>
        </p:spPr>
        <p:txBody>
          <a:bodyPr/>
          <a:lstStyle/>
          <a:p>
            <a:pPr defTabSz="0" eaLnBrk="1" hangingPunct="1"/>
            <a:endParaRPr lang="en-US" sz="2400" dirty="0" smtClean="0"/>
          </a:p>
          <a:p>
            <a:pPr defTabSz="0" eaLnBrk="1" hangingPunct="1"/>
            <a:endParaRPr lang="en-US" sz="2400" dirty="0" smtClean="0"/>
          </a:p>
          <a:p>
            <a:pPr defTabSz="0" eaLnBrk="1" hangingPunct="1"/>
            <a:r>
              <a:rPr lang="en-US" sz="2400" dirty="0" smtClean="0"/>
              <a:t>A </a:t>
            </a:r>
            <a:r>
              <a:rPr lang="en-US" sz="2400" dirty="0" smtClean="0"/>
              <a:t>neuron is made of inputs, weights, some sort of summing functions and a transfer function</a:t>
            </a:r>
          </a:p>
          <a:p>
            <a:pPr defTabSz="0" eaLnBrk="1" hangingPunct="1"/>
            <a:r>
              <a:rPr lang="en-US" sz="2400" dirty="0" smtClean="0"/>
              <a:t>For neural networks to work they first must be trained and from this training retain some knowledge (Back propagation)</a:t>
            </a:r>
          </a:p>
          <a:p>
            <a:pPr defTabSz="0" eaLnBrk="1" hangingPunct="1">
              <a:buFontTx/>
              <a:buNone/>
            </a:pPr>
            <a:endParaRPr lang="en-US" sz="2400" dirty="0" smtClean="0"/>
          </a:p>
          <a:p>
            <a:pPr defTabSz="0" eaLnBrk="1" hangingPunct="1">
              <a:buFontTx/>
              <a:buNone/>
            </a:pPr>
            <a:endParaRPr lang="en-US" sz="3600" dirty="0" smtClean="0"/>
          </a:p>
          <a:p>
            <a:pPr defTabSz="0" eaLnBrk="1" hangingPunct="1">
              <a:buFontTx/>
              <a:buNone/>
            </a:pPr>
            <a:endParaRPr lang="en-US" sz="3600" dirty="0" smtClean="0"/>
          </a:p>
          <a:p>
            <a:pPr defTabSz="0" eaLnBrk="1" hangingPunct="1">
              <a:buFontTx/>
              <a:buNone/>
            </a:pPr>
            <a:endParaRPr lang="en-US" sz="3600" dirty="0" smtClean="0"/>
          </a:p>
          <a:p>
            <a:pPr defTabSz="0" eaLnBrk="1" hangingPunct="1">
              <a:buFontTx/>
              <a:buNone/>
            </a:pPr>
            <a:endParaRPr lang="en-US" sz="3600" dirty="0" smtClean="0"/>
          </a:p>
          <a:p>
            <a:pPr defTabSz="0" eaLnBrk="1" hangingPunct="1">
              <a:buFontTx/>
              <a:buNone/>
            </a:pPr>
            <a:endParaRPr lang="en-US" sz="3600" dirty="0" smtClean="0"/>
          </a:p>
          <a:p>
            <a:pPr defTabSz="0" eaLnBrk="1" hangingPunct="1">
              <a:buFontTx/>
              <a:buNone/>
            </a:pPr>
            <a:endParaRPr lang="en-US" sz="3600" dirty="0" smtClean="0"/>
          </a:p>
        </p:txBody>
      </p:sp>
      <p:pic>
        <p:nvPicPr>
          <p:cNvPr id="106500" name="Picture 9" descr="01_nnbl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56715" y="3171218"/>
            <a:ext cx="5389522" cy="1778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" name="Group 6"/>
          <p:cNvGrpSpPr/>
          <p:nvPr/>
        </p:nvGrpSpPr>
        <p:grpSpPr>
          <a:xfrm>
            <a:off x="1370055" y="3431724"/>
            <a:ext cx="4271987" cy="2492421"/>
            <a:chOff x="990599" y="738216"/>
            <a:chExt cx="3381620" cy="1757334"/>
          </a:xfrm>
        </p:grpSpPr>
        <p:grpSp>
          <p:nvGrpSpPr>
            <p:cNvPr id="8" name="Group 76"/>
            <p:cNvGrpSpPr/>
            <p:nvPr/>
          </p:nvGrpSpPr>
          <p:grpSpPr>
            <a:xfrm>
              <a:off x="1239873" y="738212"/>
              <a:ext cx="2862227" cy="1432791"/>
              <a:chOff x="1905000" y="2190750"/>
              <a:chExt cx="3483917" cy="1744001"/>
            </a:xfrm>
          </p:grpSpPr>
          <p:sp>
            <p:nvSpPr>
              <p:cNvPr id="13" name="Oval 12"/>
              <p:cNvSpPr/>
              <p:nvPr/>
            </p:nvSpPr>
            <p:spPr>
              <a:xfrm>
                <a:off x="1905000" y="318349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1905000" y="284853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1905000" y="251356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2899779" y="2190751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5102454" y="236976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" name="Straight Arrow Connector 17"/>
              <p:cNvCxnSpPr>
                <a:stCxn id="15" idx="6"/>
                <a:endCxn id="16" idx="2"/>
              </p:cNvCxnSpPr>
              <p:nvPr/>
            </p:nvCxnSpPr>
            <p:spPr>
              <a:xfrm flipV="1">
                <a:off x="2191463" y="2334552"/>
                <a:ext cx="708316" cy="3228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/>
              <p:cNvCxnSpPr>
                <a:stCxn id="14" idx="6"/>
                <a:endCxn id="16" idx="2"/>
              </p:cNvCxnSpPr>
              <p:nvPr/>
            </p:nvCxnSpPr>
            <p:spPr>
              <a:xfrm flipV="1">
                <a:off x="2191463" y="2334552"/>
                <a:ext cx="708316" cy="6577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>
                <a:stCxn id="13" idx="6"/>
                <a:endCxn id="16" idx="2"/>
              </p:cNvCxnSpPr>
              <p:nvPr/>
            </p:nvCxnSpPr>
            <p:spPr>
              <a:xfrm flipV="1">
                <a:off x="2191463" y="2334552"/>
                <a:ext cx="708316" cy="9927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Oval 20"/>
              <p:cNvSpPr/>
              <p:nvPr/>
            </p:nvSpPr>
            <p:spPr>
              <a:xfrm>
                <a:off x="2899778" y="2564055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2" name="Straight Arrow Connector 21"/>
              <p:cNvCxnSpPr>
                <a:stCxn id="15" idx="6"/>
                <a:endCxn id="21" idx="2"/>
              </p:cNvCxnSpPr>
              <p:nvPr/>
            </p:nvCxnSpPr>
            <p:spPr>
              <a:xfrm>
                <a:off x="2191463" y="2657369"/>
                <a:ext cx="708315" cy="5048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/>
              <p:cNvCxnSpPr>
                <a:stCxn id="14" idx="6"/>
                <a:endCxn id="21" idx="2"/>
              </p:cNvCxnSpPr>
              <p:nvPr/>
            </p:nvCxnSpPr>
            <p:spPr>
              <a:xfrm flipV="1">
                <a:off x="2191463" y="2707856"/>
                <a:ext cx="708315" cy="2844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/>
              <p:cNvCxnSpPr>
                <a:stCxn id="13" idx="6"/>
                <a:endCxn id="21" idx="2"/>
              </p:cNvCxnSpPr>
              <p:nvPr/>
            </p:nvCxnSpPr>
            <p:spPr>
              <a:xfrm flipV="1">
                <a:off x="2191463" y="2707856"/>
                <a:ext cx="708315" cy="61944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Oval 24"/>
              <p:cNvSpPr/>
              <p:nvPr/>
            </p:nvSpPr>
            <p:spPr>
              <a:xfrm>
                <a:off x="2899777" y="2922777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6" name="Straight Arrow Connector 25"/>
              <p:cNvCxnSpPr>
                <a:stCxn id="15" idx="6"/>
                <a:endCxn id="25" idx="2"/>
              </p:cNvCxnSpPr>
              <p:nvPr/>
            </p:nvCxnSpPr>
            <p:spPr>
              <a:xfrm>
                <a:off x="2191463" y="2657369"/>
                <a:ext cx="708314" cy="40920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/>
              <p:cNvCxnSpPr>
                <a:stCxn id="14" idx="6"/>
                <a:endCxn id="25" idx="2"/>
              </p:cNvCxnSpPr>
              <p:nvPr/>
            </p:nvCxnSpPr>
            <p:spPr>
              <a:xfrm>
                <a:off x="2191463" y="2992333"/>
                <a:ext cx="708314" cy="742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/>
              <p:cNvCxnSpPr>
                <a:stCxn id="13" idx="6"/>
                <a:endCxn id="25" idx="2"/>
              </p:cNvCxnSpPr>
              <p:nvPr/>
            </p:nvCxnSpPr>
            <p:spPr>
              <a:xfrm flipV="1">
                <a:off x="2191463" y="3066578"/>
                <a:ext cx="708314" cy="2607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Oval 28"/>
              <p:cNvSpPr/>
              <p:nvPr/>
            </p:nvSpPr>
            <p:spPr>
              <a:xfrm>
                <a:off x="2899776" y="3273713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0" name="Straight Arrow Connector 29"/>
              <p:cNvCxnSpPr>
                <a:stCxn id="15" idx="6"/>
                <a:endCxn id="29" idx="2"/>
              </p:cNvCxnSpPr>
              <p:nvPr/>
            </p:nvCxnSpPr>
            <p:spPr>
              <a:xfrm>
                <a:off x="2191463" y="2657369"/>
                <a:ext cx="708313" cy="7601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/>
              <p:cNvCxnSpPr>
                <a:stCxn id="14" idx="6"/>
                <a:endCxn id="29" idx="2"/>
              </p:cNvCxnSpPr>
              <p:nvPr/>
            </p:nvCxnSpPr>
            <p:spPr>
              <a:xfrm>
                <a:off x="2191463" y="2992333"/>
                <a:ext cx="708313" cy="42518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/>
              <p:cNvCxnSpPr>
                <a:stCxn id="13" idx="6"/>
                <a:endCxn id="29" idx="2"/>
              </p:cNvCxnSpPr>
              <p:nvPr/>
            </p:nvCxnSpPr>
            <p:spPr>
              <a:xfrm>
                <a:off x="2191463" y="3327297"/>
                <a:ext cx="708313" cy="902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Oval 32"/>
              <p:cNvSpPr/>
              <p:nvPr/>
            </p:nvSpPr>
            <p:spPr>
              <a:xfrm>
                <a:off x="2899779" y="36385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Straight Arrow Connector 33"/>
              <p:cNvCxnSpPr>
                <a:stCxn id="15" idx="6"/>
                <a:endCxn id="33" idx="2"/>
              </p:cNvCxnSpPr>
              <p:nvPr/>
            </p:nvCxnSpPr>
            <p:spPr>
              <a:xfrm>
                <a:off x="2191463" y="2657369"/>
                <a:ext cx="708316" cy="112498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/>
              <p:cNvCxnSpPr>
                <a:stCxn id="14" idx="6"/>
                <a:endCxn id="33" idx="2"/>
              </p:cNvCxnSpPr>
              <p:nvPr/>
            </p:nvCxnSpPr>
            <p:spPr>
              <a:xfrm>
                <a:off x="2191463" y="2992333"/>
                <a:ext cx="708316" cy="79001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/>
              <p:cNvCxnSpPr>
                <a:stCxn id="13" idx="6"/>
                <a:endCxn id="33" idx="2"/>
              </p:cNvCxnSpPr>
              <p:nvPr/>
            </p:nvCxnSpPr>
            <p:spPr>
              <a:xfrm>
                <a:off x="2191463" y="3327297"/>
                <a:ext cx="708316" cy="45505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Oval 36"/>
              <p:cNvSpPr/>
              <p:nvPr/>
            </p:nvSpPr>
            <p:spPr>
              <a:xfrm>
                <a:off x="4028197" y="21907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8" name="Straight Arrow Connector 37"/>
              <p:cNvCxnSpPr>
                <a:stCxn id="16" idx="6"/>
                <a:endCxn id="37" idx="2"/>
              </p:cNvCxnSpPr>
              <p:nvPr/>
            </p:nvCxnSpPr>
            <p:spPr>
              <a:xfrm flipV="1">
                <a:off x="3186242" y="23345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/>
              <p:cNvCxnSpPr>
                <a:stCxn id="21" idx="6"/>
                <a:endCxn id="37" idx="2"/>
              </p:cNvCxnSpPr>
              <p:nvPr/>
            </p:nvCxnSpPr>
            <p:spPr>
              <a:xfrm flipV="1">
                <a:off x="3186241" y="233455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/>
              <p:cNvCxnSpPr>
                <a:stCxn id="25" idx="6"/>
                <a:endCxn id="37" idx="2"/>
              </p:cNvCxnSpPr>
              <p:nvPr/>
            </p:nvCxnSpPr>
            <p:spPr>
              <a:xfrm flipV="1">
                <a:off x="3186240" y="2334551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/>
              <p:cNvCxnSpPr>
                <a:stCxn id="29" idx="6"/>
                <a:endCxn id="37" idx="2"/>
              </p:cNvCxnSpPr>
              <p:nvPr/>
            </p:nvCxnSpPr>
            <p:spPr>
              <a:xfrm flipV="1">
                <a:off x="3186239" y="2334551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/>
              <p:cNvCxnSpPr>
                <a:stCxn id="33" idx="6"/>
                <a:endCxn id="37" idx="2"/>
              </p:cNvCxnSpPr>
              <p:nvPr/>
            </p:nvCxnSpPr>
            <p:spPr>
              <a:xfrm flipV="1">
                <a:off x="3186242" y="2334551"/>
                <a:ext cx="841955" cy="1447800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Oval 42"/>
              <p:cNvSpPr/>
              <p:nvPr/>
            </p:nvSpPr>
            <p:spPr>
              <a:xfrm>
                <a:off x="4028196" y="2568528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" name="Straight Arrow Connector 43"/>
              <p:cNvCxnSpPr>
                <a:endCxn id="43" idx="2"/>
              </p:cNvCxnSpPr>
              <p:nvPr/>
            </p:nvCxnSpPr>
            <p:spPr>
              <a:xfrm flipV="1">
                <a:off x="3186241" y="2712329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/>
              <p:cNvCxnSpPr>
                <a:stCxn id="25" idx="6"/>
                <a:endCxn id="43" idx="2"/>
              </p:cNvCxnSpPr>
              <p:nvPr/>
            </p:nvCxnSpPr>
            <p:spPr>
              <a:xfrm flipV="1">
                <a:off x="3186240" y="2712329"/>
                <a:ext cx="841956" cy="3542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/>
              <p:cNvCxnSpPr>
                <a:endCxn id="43" idx="2"/>
              </p:cNvCxnSpPr>
              <p:nvPr/>
            </p:nvCxnSpPr>
            <p:spPr>
              <a:xfrm flipV="1">
                <a:off x="3186239" y="2712329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/>
              <p:cNvCxnSpPr>
                <a:endCxn id="43" idx="2"/>
              </p:cNvCxnSpPr>
              <p:nvPr/>
            </p:nvCxnSpPr>
            <p:spPr>
              <a:xfrm flipV="1">
                <a:off x="3186238" y="2712329"/>
                <a:ext cx="841958" cy="108296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/>
              <p:cNvCxnSpPr>
                <a:stCxn id="16" idx="6"/>
                <a:endCxn id="43" idx="2"/>
              </p:cNvCxnSpPr>
              <p:nvPr/>
            </p:nvCxnSpPr>
            <p:spPr>
              <a:xfrm>
                <a:off x="3186242" y="2334552"/>
                <a:ext cx="841954" cy="37777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Oval 48"/>
              <p:cNvSpPr/>
              <p:nvPr/>
            </p:nvSpPr>
            <p:spPr>
              <a:xfrm>
                <a:off x="4030044" y="2915686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0" name="Straight Arrow Connector 49"/>
              <p:cNvCxnSpPr>
                <a:endCxn id="49" idx="2"/>
              </p:cNvCxnSpPr>
              <p:nvPr/>
            </p:nvCxnSpPr>
            <p:spPr>
              <a:xfrm flipV="1">
                <a:off x="3188089" y="3059487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/>
              <p:cNvCxnSpPr>
                <a:endCxn id="49" idx="2"/>
              </p:cNvCxnSpPr>
              <p:nvPr/>
            </p:nvCxnSpPr>
            <p:spPr>
              <a:xfrm flipV="1">
                <a:off x="3188088" y="3059487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/>
              <p:cNvCxnSpPr>
                <a:endCxn id="49" idx="2"/>
              </p:cNvCxnSpPr>
              <p:nvPr/>
            </p:nvCxnSpPr>
            <p:spPr>
              <a:xfrm flipV="1">
                <a:off x="3188087" y="3059487"/>
                <a:ext cx="841957" cy="73202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/>
              <p:cNvCxnSpPr>
                <a:stCxn id="21" idx="6"/>
                <a:endCxn id="49" idx="2"/>
              </p:cNvCxnSpPr>
              <p:nvPr/>
            </p:nvCxnSpPr>
            <p:spPr>
              <a:xfrm>
                <a:off x="3186241" y="2707856"/>
                <a:ext cx="843803" cy="35163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/>
              <p:cNvCxnSpPr>
                <a:stCxn id="16" idx="6"/>
                <a:endCxn id="49" idx="2"/>
              </p:cNvCxnSpPr>
              <p:nvPr/>
            </p:nvCxnSpPr>
            <p:spPr>
              <a:xfrm>
                <a:off x="3186242" y="2334552"/>
                <a:ext cx="843802" cy="72493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Oval 54"/>
              <p:cNvSpPr/>
              <p:nvPr/>
            </p:nvSpPr>
            <p:spPr>
              <a:xfrm>
                <a:off x="4028195" y="326390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6" name="Straight Arrow Connector 55"/>
              <p:cNvCxnSpPr>
                <a:stCxn id="29" idx="6"/>
                <a:endCxn id="55" idx="2"/>
              </p:cNvCxnSpPr>
              <p:nvPr/>
            </p:nvCxnSpPr>
            <p:spPr>
              <a:xfrm flipV="1">
                <a:off x="3186239" y="3407701"/>
                <a:ext cx="841956" cy="981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/>
              <p:cNvCxnSpPr>
                <a:endCxn id="55" idx="2"/>
              </p:cNvCxnSpPr>
              <p:nvPr/>
            </p:nvCxnSpPr>
            <p:spPr>
              <a:xfrm flipV="1">
                <a:off x="3186239" y="3407701"/>
                <a:ext cx="841956" cy="37330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/>
              <p:cNvCxnSpPr>
                <a:stCxn id="25" idx="6"/>
                <a:endCxn id="55" idx="2"/>
              </p:cNvCxnSpPr>
              <p:nvPr/>
            </p:nvCxnSpPr>
            <p:spPr>
              <a:xfrm>
                <a:off x="3186240" y="3066578"/>
                <a:ext cx="841955" cy="34112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/>
              <p:cNvCxnSpPr>
                <a:stCxn id="21" idx="6"/>
                <a:endCxn id="55" idx="2"/>
              </p:cNvCxnSpPr>
              <p:nvPr/>
            </p:nvCxnSpPr>
            <p:spPr>
              <a:xfrm>
                <a:off x="3186241" y="2707856"/>
                <a:ext cx="841954" cy="69984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/>
              <p:cNvCxnSpPr>
                <a:stCxn id="16" idx="6"/>
                <a:endCxn id="55" idx="2"/>
              </p:cNvCxnSpPr>
              <p:nvPr/>
            </p:nvCxnSpPr>
            <p:spPr>
              <a:xfrm>
                <a:off x="3186242" y="2334552"/>
                <a:ext cx="841953" cy="107314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Oval 60"/>
              <p:cNvSpPr/>
              <p:nvPr/>
            </p:nvSpPr>
            <p:spPr>
              <a:xfrm>
                <a:off x="4028194" y="3647150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2" name="Straight Arrow Connector 61"/>
              <p:cNvCxnSpPr>
                <a:endCxn id="61" idx="2"/>
              </p:cNvCxnSpPr>
              <p:nvPr/>
            </p:nvCxnSpPr>
            <p:spPr>
              <a:xfrm flipV="1">
                <a:off x="3186239" y="3790951"/>
                <a:ext cx="841955" cy="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/>
              <p:cNvCxnSpPr>
                <a:stCxn id="29" idx="6"/>
                <a:endCxn id="61" idx="2"/>
              </p:cNvCxnSpPr>
              <p:nvPr/>
            </p:nvCxnSpPr>
            <p:spPr>
              <a:xfrm>
                <a:off x="3186239" y="3417514"/>
                <a:ext cx="841955" cy="37343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Arrow Connector 63"/>
              <p:cNvCxnSpPr>
                <a:stCxn id="25" idx="6"/>
                <a:endCxn id="61" idx="2"/>
              </p:cNvCxnSpPr>
              <p:nvPr/>
            </p:nvCxnSpPr>
            <p:spPr>
              <a:xfrm>
                <a:off x="3186240" y="3066578"/>
                <a:ext cx="841954" cy="72437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/>
              <p:cNvCxnSpPr>
                <a:stCxn id="21" idx="6"/>
                <a:endCxn id="61" idx="2"/>
              </p:cNvCxnSpPr>
              <p:nvPr/>
            </p:nvCxnSpPr>
            <p:spPr>
              <a:xfrm>
                <a:off x="3186241" y="2707856"/>
                <a:ext cx="841953" cy="1083095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/>
              <p:cNvCxnSpPr>
                <a:stCxn id="16" idx="6"/>
                <a:endCxn id="61" idx="2"/>
              </p:cNvCxnSpPr>
              <p:nvPr/>
            </p:nvCxnSpPr>
            <p:spPr>
              <a:xfrm>
                <a:off x="3186242" y="2334552"/>
                <a:ext cx="841952" cy="145639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/>
              <p:cNvCxnSpPr>
                <a:stCxn id="37" idx="6"/>
                <a:endCxn id="17" idx="2"/>
              </p:cNvCxnSpPr>
              <p:nvPr/>
            </p:nvCxnSpPr>
            <p:spPr>
              <a:xfrm>
                <a:off x="4314660" y="2334551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/>
              <p:cNvCxnSpPr>
                <a:stCxn id="43" idx="6"/>
                <a:endCxn id="17" idx="2"/>
              </p:cNvCxnSpPr>
              <p:nvPr/>
            </p:nvCxnSpPr>
            <p:spPr>
              <a:xfrm flipV="1">
                <a:off x="4314659" y="2513568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/>
              <p:cNvCxnSpPr>
                <a:stCxn id="49" idx="6"/>
                <a:endCxn id="17" idx="2"/>
              </p:cNvCxnSpPr>
              <p:nvPr/>
            </p:nvCxnSpPr>
            <p:spPr>
              <a:xfrm flipV="1">
                <a:off x="4316507" y="2513568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/>
              <p:cNvCxnSpPr>
                <a:stCxn id="55" idx="6"/>
                <a:endCxn id="17" idx="2"/>
              </p:cNvCxnSpPr>
              <p:nvPr/>
            </p:nvCxnSpPr>
            <p:spPr>
              <a:xfrm flipV="1">
                <a:off x="4314658" y="2513568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/>
              <p:cNvCxnSpPr>
                <a:stCxn id="61" idx="6"/>
                <a:endCxn id="17" idx="2"/>
              </p:cNvCxnSpPr>
              <p:nvPr/>
            </p:nvCxnSpPr>
            <p:spPr>
              <a:xfrm flipV="1">
                <a:off x="4314657" y="2513568"/>
                <a:ext cx="787797" cy="127738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Oval 71"/>
              <p:cNvSpPr/>
              <p:nvPr/>
            </p:nvSpPr>
            <p:spPr>
              <a:xfrm>
                <a:off x="5102453" y="27456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3" name="Straight Arrow Connector 72"/>
              <p:cNvCxnSpPr>
                <a:endCxn id="72" idx="2"/>
              </p:cNvCxnSpPr>
              <p:nvPr/>
            </p:nvCxnSpPr>
            <p:spPr>
              <a:xfrm>
                <a:off x="4314659" y="27104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/>
              <p:cNvCxnSpPr>
                <a:endCxn id="72" idx="2"/>
              </p:cNvCxnSpPr>
              <p:nvPr/>
            </p:nvCxnSpPr>
            <p:spPr>
              <a:xfrm flipV="1">
                <a:off x="4314658" y="28894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/>
              <p:cNvCxnSpPr>
                <a:endCxn id="72" idx="2"/>
              </p:cNvCxnSpPr>
              <p:nvPr/>
            </p:nvCxnSpPr>
            <p:spPr>
              <a:xfrm flipV="1">
                <a:off x="4316506" y="2889453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/>
              <p:cNvCxnSpPr>
                <a:endCxn id="72" idx="2"/>
              </p:cNvCxnSpPr>
              <p:nvPr/>
            </p:nvCxnSpPr>
            <p:spPr>
              <a:xfrm flipV="1">
                <a:off x="4314657" y="2889453"/>
                <a:ext cx="787796" cy="894133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/>
              <p:cNvCxnSpPr>
                <a:stCxn id="37" idx="6"/>
                <a:endCxn id="72" idx="2"/>
              </p:cNvCxnSpPr>
              <p:nvPr/>
            </p:nvCxnSpPr>
            <p:spPr>
              <a:xfrm>
                <a:off x="4314660" y="2334551"/>
                <a:ext cx="787793" cy="5549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Oval 77"/>
              <p:cNvSpPr/>
              <p:nvPr/>
            </p:nvSpPr>
            <p:spPr>
              <a:xfrm>
                <a:off x="5102452" y="3088214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9" name="Straight Arrow Connector 78"/>
              <p:cNvCxnSpPr>
                <a:endCxn id="78" idx="2"/>
              </p:cNvCxnSpPr>
              <p:nvPr/>
            </p:nvCxnSpPr>
            <p:spPr>
              <a:xfrm>
                <a:off x="4314658" y="3052998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/>
              <p:cNvCxnSpPr>
                <a:endCxn id="78" idx="2"/>
              </p:cNvCxnSpPr>
              <p:nvPr/>
            </p:nvCxnSpPr>
            <p:spPr>
              <a:xfrm flipV="1">
                <a:off x="4314657" y="3232015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Arrow Connector 80"/>
              <p:cNvCxnSpPr>
                <a:endCxn id="78" idx="2"/>
              </p:cNvCxnSpPr>
              <p:nvPr/>
            </p:nvCxnSpPr>
            <p:spPr>
              <a:xfrm flipV="1">
                <a:off x="4316505" y="3232015"/>
                <a:ext cx="785947" cy="5459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/>
              <p:cNvCxnSpPr>
                <a:stCxn id="43" idx="6"/>
                <a:endCxn id="78" idx="2"/>
              </p:cNvCxnSpPr>
              <p:nvPr/>
            </p:nvCxnSpPr>
            <p:spPr>
              <a:xfrm>
                <a:off x="4314659" y="2712329"/>
                <a:ext cx="787793" cy="51968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/>
              <p:cNvCxnSpPr>
                <a:stCxn id="37" idx="6"/>
                <a:endCxn id="78" idx="2"/>
              </p:cNvCxnSpPr>
              <p:nvPr/>
            </p:nvCxnSpPr>
            <p:spPr>
              <a:xfrm>
                <a:off x="4314660" y="2334551"/>
                <a:ext cx="787792" cy="89746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Oval 83"/>
              <p:cNvSpPr/>
              <p:nvPr/>
            </p:nvSpPr>
            <p:spPr>
              <a:xfrm>
                <a:off x="5102454" y="3450552"/>
                <a:ext cx="286463" cy="2876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5" name="Straight Arrow Connector 84"/>
              <p:cNvCxnSpPr>
                <a:endCxn id="84" idx="2"/>
              </p:cNvCxnSpPr>
              <p:nvPr/>
            </p:nvCxnSpPr>
            <p:spPr>
              <a:xfrm>
                <a:off x="4314660" y="3415336"/>
                <a:ext cx="787794" cy="17901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/>
              <p:cNvCxnSpPr>
                <a:endCxn id="84" idx="2"/>
              </p:cNvCxnSpPr>
              <p:nvPr/>
            </p:nvCxnSpPr>
            <p:spPr>
              <a:xfrm flipV="1">
                <a:off x="4314659" y="3594353"/>
                <a:ext cx="787795" cy="19876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/>
              <p:cNvCxnSpPr>
                <a:stCxn id="49" idx="6"/>
                <a:endCxn id="84" idx="2"/>
              </p:cNvCxnSpPr>
              <p:nvPr/>
            </p:nvCxnSpPr>
            <p:spPr>
              <a:xfrm>
                <a:off x="4316507" y="3059487"/>
                <a:ext cx="785947" cy="53486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/>
              <p:cNvCxnSpPr>
                <a:stCxn id="43" idx="6"/>
                <a:endCxn id="84" idx="2"/>
              </p:cNvCxnSpPr>
              <p:nvPr/>
            </p:nvCxnSpPr>
            <p:spPr>
              <a:xfrm>
                <a:off x="4314659" y="2712329"/>
                <a:ext cx="787795" cy="88202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/>
              <p:cNvCxnSpPr>
                <a:stCxn id="37" idx="6"/>
                <a:endCxn id="84" idx="2"/>
              </p:cNvCxnSpPr>
              <p:nvPr/>
            </p:nvCxnSpPr>
            <p:spPr>
              <a:xfrm>
                <a:off x="4314660" y="2334551"/>
                <a:ext cx="787794" cy="1259802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8"/>
            <p:cNvSpPr txBox="1"/>
            <p:nvPr/>
          </p:nvSpPr>
          <p:spPr>
            <a:xfrm>
              <a:off x="99059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Layer 1</a:t>
              </a:r>
              <a:endParaRPr lang="en-US" sz="140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787019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Layer 2</a:t>
              </a:r>
              <a:endParaRPr lang="en-US" sz="14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715597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Layer 3</a:t>
              </a:r>
              <a:endParaRPr lang="en-US" sz="14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596641" y="2156996"/>
              <a:ext cx="7755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Layer 4</a:t>
              </a:r>
              <a:endParaRPr lang="en-US" sz="1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7007" y="393608"/>
            <a:ext cx="10575911" cy="832078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404040"/>
                </a:solidFill>
                <a:latin typeface="Calibri Light"/>
              </a:rPr>
              <a:t>Typical ML Model Development and Deployment Flow</a:t>
            </a:r>
            <a:endParaRPr lang="en-US" dirty="0">
              <a:solidFill>
                <a:srgbClr val="404040"/>
              </a:solidFill>
              <a:latin typeface="Calibri Light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62124" y="1188303"/>
            <a:ext cx="7459696" cy="5115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36954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 smtClean="0">
                <a:solidFill>
                  <a:srgbClr val="404040"/>
                </a:solidFill>
                <a:latin typeface="Calibri Light"/>
              </a:rPr>
              <a:t>Share &amp; </a:t>
            </a:r>
            <a:r>
              <a:rPr lang="en-US" dirty="0" smtClean="0">
                <a:solidFill>
                  <a:srgbClr val="404040"/>
                </a:solidFill>
                <a:latin typeface="Calibri Light"/>
              </a:rPr>
              <a:t>Integrate ML Models</a:t>
            </a:r>
            <a:endParaRPr lang="en-US" dirty="0">
              <a:solidFill>
                <a:srgbClr val="404040"/>
              </a:solidFill>
              <a:latin typeface="Calibri Light"/>
            </a:endParaRPr>
          </a:p>
        </p:txBody>
      </p:sp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18764" y="1868795"/>
            <a:ext cx="8214193" cy="44230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36954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 smtClean="0">
                <a:solidFill>
                  <a:srgbClr val="404040"/>
                </a:solidFill>
                <a:latin typeface="Calibri Light"/>
              </a:rPr>
              <a:t>Difference </a:t>
            </a:r>
            <a:r>
              <a:rPr lang="en-US" dirty="0" smtClean="0">
                <a:solidFill>
                  <a:srgbClr val="404040"/>
                </a:solidFill>
                <a:latin typeface="Calibri Light"/>
              </a:rPr>
              <a:t>of Machine Learning/Deep Learning</a:t>
            </a:r>
            <a:endParaRPr lang="en-US" dirty="0">
              <a:solidFill>
                <a:srgbClr val="404040"/>
              </a:solidFill>
              <a:latin typeface="Calibri Light"/>
            </a:endParaRPr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11942" y="1805549"/>
            <a:ext cx="9556375" cy="447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36954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 smtClean="0">
                <a:solidFill>
                  <a:srgbClr val="404040"/>
                </a:solidFill>
                <a:latin typeface="Calibri Light"/>
              </a:rPr>
              <a:t>Deep Learning</a:t>
            </a:r>
            <a:endParaRPr lang="en-US" dirty="0">
              <a:solidFill>
                <a:srgbClr val="404040"/>
              </a:solidFill>
              <a:latin typeface="Calibri Light"/>
            </a:endParaRPr>
          </a:p>
        </p:txBody>
      </p:sp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21975" y="1666446"/>
            <a:ext cx="8618443" cy="4747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36954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 smtClean="0">
                <a:solidFill>
                  <a:srgbClr val="404040"/>
                </a:solidFill>
                <a:latin typeface="Calibri Light"/>
              </a:rPr>
              <a:t>What is Deep Learning</a:t>
            </a:r>
            <a:endParaRPr lang="en-US" dirty="0">
              <a:solidFill>
                <a:srgbClr val="404040"/>
              </a:solidFill>
              <a:latin typeface="Calibri Light"/>
            </a:endParaRPr>
          </a:p>
        </p:txBody>
      </p:sp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52899" y="1882775"/>
            <a:ext cx="8756650" cy="354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36954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 smtClean="0">
                <a:solidFill>
                  <a:srgbClr val="404040"/>
                </a:solidFill>
                <a:latin typeface="Calibri Light"/>
              </a:rPr>
              <a:t>Why is Deep Learning so Popular?</a:t>
            </a:r>
            <a:endParaRPr lang="en-US" dirty="0">
              <a:solidFill>
                <a:srgbClr val="404040"/>
              </a:solidFill>
              <a:latin typeface="Calibri Light"/>
            </a:endParaRPr>
          </a:p>
        </p:txBody>
      </p:sp>
      <p:pic>
        <p:nvPicPr>
          <p:cNvPr id="6963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02228" y="1865219"/>
            <a:ext cx="8204200" cy="409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963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87328" y="1901638"/>
            <a:ext cx="4584102" cy="2630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36954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 smtClean="0">
                <a:solidFill>
                  <a:srgbClr val="404040"/>
                </a:solidFill>
                <a:latin typeface="Calibri Light"/>
              </a:rPr>
              <a:t>Two Approaches for Deep Learning</a:t>
            </a:r>
            <a:endParaRPr lang="en-US" dirty="0">
              <a:solidFill>
                <a:srgbClr val="404040"/>
              </a:solidFill>
              <a:latin typeface="Calibri Light"/>
            </a:endParaRPr>
          </a:p>
        </p:txBody>
      </p:sp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23682" y="1835762"/>
            <a:ext cx="9300882" cy="4457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36954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404040"/>
                </a:solidFill>
                <a:latin typeface="Calibri Light"/>
              </a:rPr>
              <a:t>Two Approaches for Deep Learning</a:t>
            </a:r>
            <a:br>
              <a:rPr lang="en-US" dirty="0" smtClean="0">
                <a:solidFill>
                  <a:srgbClr val="404040"/>
                </a:solidFill>
                <a:latin typeface="Calibri Light"/>
              </a:rPr>
            </a:br>
            <a:r>
              <a:rPr lang="en-US" dirty="0" smtClean="0">
                <a:solidFill>
                  <a:srgbClr val="404040"/>
                </a:solidFill>
                <a:latin typeface="Calibri Light"/>
              </a:rPr>
              <a:t>Approach 1: Train a Deep NN from Scratch</a:t>
            </a:r>
            <a:endParaRPr lang="en-US" dirty="0">
              <a:solidFill>
                <a:srgbClr val="404040"/>
              </a:solidFill>
              <a:latin typeface="Calibri Light"/>
            </a:endParaRPr>
          </a:p>
        </p:txBody>
      </p:sp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38836" y="1793367"/>
            <a:ext cx="8365471" cy="4467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36954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404040"/>
                </a:solidFill>
                <a:latin typeface="Calibri Light"/>
              </a:rPr>
              <a:t>Two Approaches for Deep Learning</a:t>
            </a:r>
            <a:br>
              <a:rPr lang="en-US" dirty="0" smtClean="0">
                <a:solidFill>
                  <a:srgbClr val="404040"/>
                </a:solidFill>
                <a:latin typeface="Calibri Light"/>
              </a:rPr>
            </a:br>
            <a:r>
              <a:rPr lang="en-US" dirty="0" smtClean="0">
                <a:solidFill>
                  <a:srgbClr val="404040"/>
                </a:solidFill>
                <a:latin typeface="Calibri Light"/>
              </a:rPr>
              <a:t>Approach 2: Fine-tune a pre-trained model </a:t>
            </a:r>
            <a:r>
              <a:rPr lang="en-US" dirty="0" smtClean="0">
                <a:solidFill>
                  <a:srgbClr val="404040"/>
                </a:solidFill>
                <a:latin typeface="Calibri Light"/>
              </a:rPr>
              <a:t>(Transfer </a:t>
            </a:r>
            <a:r>
              <a:rPr lang="en-US" dirty="0" smtClean="0">
                <a:solidFill>
                  <a:srgbClr val="404040"/>
                </a:solidFill>
                <a:latin typeface="Calibri Light"/>
              </a:rPr>
              <a:t>Learning)</a:t>
            </a:r>
            <a:endParaRPr lang="en-US" dirty="0">
              <a:solidFill>
                <a:srgbClr val="404040"/>
              </a:solidFill>
              <a:latin typeface="Calibri Light"/>
            </a:endParaRPr>
          </a:p>
        </p:txBody>
      </p:sp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16979" y="1949824"/>
            <a:ext cx="9965136" cy="3951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36954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 smtClean="0">
                <a:solidFill>
                  <a:srgbClr val="404040"/>
                </a:solidFill>
                <a:latin typeface="Calibri Light"/>
              </a:rPr>
              <a:t>ML Algorithm Tests</a:t>
            </a:r>
            <a:endParaRPr lang="en-US" dirty="0">
              <a:solidFill>
                <a:srgbClr val="404040"/>
              </a:solidFill>
              <a:latin typeface="Calibri Ligh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972193"/>
            <a:ext cx="10644006" cy="4044079"/>
          </a:xfrm>
        </p:spPr>
        <p:txBody>
          <a:bodyPr vert="horz" lIns="0" tIns="45720" rIns="0" bIns="45720" rtlCol="0" anchor="t">
            <a:normAutofit/>
          </a:bodyPr>
          <a:lstStyle/>
          <a:p>
            <a:pPr marL="541873" indent="-541873" latinLnBrk="1">
              <a:buNone/>
            </a:pPr>
            <a:r>
              <a:rPr lang="en-US" altLang="ko-KR" sz="2844" dirty="0" smtClean="0">
                <a:cs typeface="맑은 고딕"/>
              </a:rPr>
              <a:t>1.   Objective </a:t>
            </a:r>
            <a:r>
              <a:rPr lang="en-US" altLang="ko-KR" sz="2844" dirty="0" smtClean="0">
                <a:cs typeface="맑은 고딕"/>
              </a:rPr>
              <a:t>Test</a:t>
            </a:r>
          </a:p>
          <a:p>
            <a:pPr marL="0" indent="0" latinLnBrk="1">
              <a:buNone/>
            </a:pPr>
            <a:r>
              <a:rPr lang="en-US" altLang="ko-KR" sz="2844" dirty="0" smtClean="0">
                <a:cs typeface="맑은 고딕"/>
              </a:rPr>
              <a:t>2</a:t>
            </a:r>
            <a:r>
              <a:rPr lang="en-US" altLang="ko-KR" sz="2844" dirty="0" smtClean="0">
                <a:cs typeface="맑은 고딕"/>
              </a:rPr>
              <a:t>.   </a:t>
            </a:r>
            <a:r>
              <a:rPr lang="en-US" altLang="ko-KR" sz="2844" dirty="0" smtClean="0">
                <a:cs typeface="맑은 고딕"/>
              </a:rPr>
              <a:t>Subjective </a:t>
            </a:r>
            <a:r>
              <a:rPr lang="en-US" altLang="ko-KR" sz="2844" dirty="0" smtClean="0">
                <a:cs typeface="맑은 고딕"/>
              </a:rPr>
              <a:t>test</a:t>
            </a:r>
          </a:p>
          <a:p>
            <a:pPr marL="0" indent="0" latinLnBrk="1">
              <a:buNone/>
            </a:pPr>
            <a:r>
              <a:rPr lang="en-US" altLang="ko-KR" sz="2844" dirty="0" smtClean="0">
                <a:cs typeface="맑은 고딕"/>
              </a:rPr>
              <a:t>3</a:t>
            </a:r>
            <a:r>
              <a:rPr lang="en-US" altLang="ko-KR" sz="2844" dirty="0" smtClean="0">
                <a:cs typeface="맑은 고딕"/>
              </a:rPr>
              <a:t>.  </a:t>
            </a:r>
            <a:r>
              <a:rPr lang="en-US" altLang="ko-KR" sz="2844" dirty="0" smtClean="0">
                <a:cs typeface="맑은 고딕"/>
              </a:rPr>
              <a:t> Comparison </a:t>
            </a:r>
            <a:r>
              <a:rPr lang="en-US" altLang="ko-KR" sz="2844" dirty="0" smtClean="0">
                <a:cs typeface="맑은 고딕"/>
              </a:rPr>
              <a:t>test</a:t>
            </a:r>
          </a:p>
          <a:p>
            <a:pPr lvl="1"/>
            <a:endParaRPr lang="en-US" sz="2000" dirty="0" smtClean="0">
              <a:solidFill>
                <a:schemeClr val="tx1"/>
              </a:solidFill>
              <a:latin typeface="Calibri"/>
            </a:endParaRPr>
          </a:p>
          <a:p>
            <a:pPr marL="0" indent="0">
              <a:buNone/>
            </a:pPr>
            <a:endParaRPr lang="en-US" dirty="0">
              <a:solidFill>
                <a:srgbClr val="404040"/>
              </a:solidFill>
              <a:latin typeface="Calibri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6954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1314</TotalTime>
  <Words>544</Words>
  <Application>Microsoft Office PowerPoint</Application>
  <PresentationFormat>Custom</PresentationFormat>
  <Paragraphs>118</Paragraphs>
  <Slides>22</Slides>
  <Notes>22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Retrospect</vt:lpstr>
      <vt:lpstr>Bitmap Image</vt:lpstr>
      <vt:lpstr>Introduction to Machine Learning/Deep Learning</vt:lpstr>
      <vt:lpstr>Data, Data in the world we are living</vt:lpstr>
      <vt:lpstr>Why we Need Machine Learning</vt:lpstr>
      <vt:lpstr>What is Machine Learning</vt:lpstr>
      <vt:lpstr>ML Applications</vt:lpstr>
      <vt:lpstr>ML Algorithms</vt:lpstr>
      <vt:lpstr>Performance Evaluation Metrics</vt:lpstr>
      <vt:lpstr>Decision Trees</vt:lpstr>
      <vt:lpstr>Hidden Markov Models</vt:lpstr>
      <vt:lpstr>Gaussian Mixture Models</vt:lpstr>
      <vt:lpstr>Support Vector Machines</vt:lpstr>
      <vt:lpstr> Artificial Neural Network</vt:lpstr>
      <vt:lpstr>Typical ML Model Development and Deployment Flow</vt:lpstr>
      <vt:lpstr>Share &amp; Integrate ML Models</vt:lpstr>
      <vt:lpstr>Difference of Machine Learning/Deep Learning</vt:lpstr>
      <vt:lpstr>Deep Learning</vt:lpstr>
      <vt:lpstr>What is Deep Learning</vt:lpstr>
      <vt:lpstr>Why is Deep Learning so Popular?</vt:lpstr>
      <vt:lpstr>Two Approaches for Deep Learning</vt:lpstr>
      <vt:lpstr>Two Approaches for Deep Learning Approach 1: Train a Deep NN from Scratch</vt:lpstr>
      <vt:lpstr>Two Approaches for Deep Learning Approach 2: Fine-tune a pre-trained model (Transfer Learning)</vt:lpstr>
      <vt:lpstr>ML Algorithm Tests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for Audio</dc:title>
  <dc:creator>bztan</dc:creator>
  <cp:lastModifiedBy>bztan</cp:lastModifiedBy>
  <cp:revision>70</cp:revision>
  <dcterms:modified xsi:type="dcterms:W3CDTF">2021-03-24T21:42:47Z</dcterms:modified>
</cp:coreProperties>
</file>